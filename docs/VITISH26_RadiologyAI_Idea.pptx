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0"/>
  </p:notesMasterIdLst>
  <p:sldIdLst>
    <p:sldId id="291" r:id="rId2"/>
    <p:sldId id="281" r:id="rId3"/>
    <p:sldId id="290" r:id="rId4"/>
    <p:sldId id="293" r:id="rId5"/>
    <p:sldId id="294" r:id="rId6"/>
    <p:sldId id="298" r:id="rId7"/>
    <p:sldId id="296" r:id="rId8"/>
    <p:sldId id="297" r:id="rId9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760"/>
  </p:normalViewPr>
  <p:slideViewPr>
    <p:cSldViewPr snapToGrid="0" snapToObjects="1">
      <p:cViewPr varScale="1">
        <p:scale>
          <a:sx n="69" d="100"/>
          <a:sy n="69" d="100"/>
        </p:scale>
        <p:origin x="756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8/17/2026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FBFFC3-6203-13C5-E465-C1F1BAD64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>
            <a:extLst>
              <a:ext uri="{FF2B5EF4-FFF2-40B4-BE49-F238E27FC236}">
                <a16:creationId xmlns:a16="http://schemas.microsoft.com/office/drawing/2014/main" id="{54B58766-F168-D949-A1FB-1B7B65F16AA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>
            <a:extLst>
              <a:ext uri="{FF2B5EF4-FFF2-40B4-BE49-F238E27FC236}">
                <a16:creationId xmlns:a16="http://schemas.microsoft.com/office/drawing/2014/main" id="{225EBC7A-8C45-EA48-8134-82CE011ED5C8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>
            <a:extLst>
              <a:ext uri="{FF2B5EF4-FFF2-40B4-BE49-F238E27FC236}">
                <a16:creationId xmlns:a16="http://schemas.microsoft.com/office/drawing/2014/main" id="{F8F01CA3-9C57-074A-74FE-69CBA406E7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1769181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8/17/2026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8/17/2026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8/17/2026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8/17/2026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8/17/2026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3.jpe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7100697" y="2120809"/>
            <a:ext cx="2731561" cy="2921476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2235333" y="1109892"/>
            <a:ext cx="7721333" cy="1170354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82679" y="452775"/>
            <a:ext cx="10946314" cy="1383097"/>
          </a:xfrm>
        </p:spPr>
        <p:txBody>
          <a:bodyPr/>
          <a:lstStyle/>
          <a:p>
            <a:r>
              <a:rPr lang="en-US" sz="3600" b="1" dirty="0">
                <a:solidFill>
                  <a:schemeClr val="tx2"/>
                </a:solidFill>
                <a:latin typeface="Garamond" panose="02020404030301010803" pitchFamily="18" charset="0"/>
              </a:rPr>
              <a:t>VITISH 2026</a:t>
            </a:r>
            <a:br>
              <a:rPr lang="en-US" sz="3600" b="1" dirty="0">
                <a:solidFill>
                  <a:schemeClr val="tx2"/>
                </a:solidFill>
                <a:latin typeface="Garamond" panose="02020404030301010803" pitchFamily="18" charset="0"/>
              </a:rPr>
            </a:br>
            <a:r>
              <a:rPr lang="en-US" sz="3600" b="1" dirty="0">
                <a:solidFill>
                  <a:schemeClr val="tx2"/>
                </a:solidFill>
                <a:latin typeface="Garamond" panose="02020404030301010803" pitchFamily="18" charset="0"/>
              </a:rPr>
              <a:t>(SIH Internal Hackathon)</a:t>
            </a:r>
            <a:endParaRPr lang="en-IN" sz="36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32093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800" b="1">
                <a:latin typeface="Arial"/>
              </a:defRPr>
            </a:pPr>
            <a:r>
              <a:t>Problem Statement ID: 45</a:t>
            </a:r>
            <a:br/>
            <a:r>
              <a:t>Problem Statement Title: AI-powered Radiology Interpretation Assistant</a:t>
            </a:r>
            <a:br/>
            <a:r>
              <a:t>Theme: HealthTech</a:t>
            </a:r>
            <a:br/>
            <a:r>
              <a:t>PS Category: Software</a:t>
            </a:r>
            <a:endParaRPr lang="en-US" dirty="0"/>
          </a:p>
        </p:txBody>
      </p:sp>
      <p:pic>
        <p:nvPicPr>
          <p:cNvPr id="12" name="Picture 11" descr="A logo with a person in a blue yellow and red circle&#10;&#10;Description automatically generated">
            <a:extLst>
              <a:ext uri="{FF2B5EF4-FFF2-40B4-BE49-F238E27FC236}">
                <a16:creationId xmlns:a16="http://schemas.microsoft.com/office/drawing/2014/main" id="{7A64D61F-5B8B-15E3-BC96-0ADAA37214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0451" y="191545"/>
            <a:ext cx="1391552" cy="740612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A30E2C68-82E2-FD05-194A-E171A407F6F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651" y="171182"/>
            <a:ext cx="1391552" cy="767528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56371CB0-1A59-51B4-E3F7-E33EA96070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0443" y="205614"/>
            <a:ext cx="1476130" cy="741665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591370C-3C8F-2DF3-1F44-F3D03B24808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048" y="205614"/>
            <a:ext cx="1903303" cy="72959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609600" y="346268"/>
            <a:ext cx="10972800" cy="810338"/>
          </a:xfrm>
        </p:spPr>
        <p:txBody>
          <a:bodyPr/>
          <a:lstStyle/>
          <a:p>
            <a:pPr>
              <a:defRPr sz="2800" b="1"/>
            </a:pPr>
            <a:r>
              <a:t>Radiology AI Assistant — Explainable Multi-Modality Clinical Decision Support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338667" y="1613363"/>
            <a:ext cx="11401777" cy="3908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  <a:defRPr sz="2000" b="1"/>
            </a:pPr>
            <a:r>
              <a:t>Proposed Solution (Describe your Idea / Solution / 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defRPr sz="1800" b="1"/>
            </a:pPr>
            <a:r>
              <a:t>Detailed explanation of the proposed solution</a:t>
            </a:r>
          </a:p>
          <a:p>
            <a:pPr>
              <a:defRPr sz="1800" b="1"/>
            </a:pPr>
            <a:r>
              <a:t>How it addresses the problem</a:t>
            </a:r>
          </a:p>
          <a:p>
            <a:pPr>
              <a:defRPr sz="1800" b="1"/>
            </a:pPr>
            <a:r>
              <a:t>Innovation and uniqueness of the solution</a:t>
            </a:r>
          </a:p>
          <a:p>
            <a:pPr lvl="1">
              <a:defRPr sz="1400"/>
            </a:pPr>
            <a:r>
              <a:t>Web CDS platform for X-ray, CT, MRI, and Ultrasound — radiologist assistant, not a replacement</a:t>
            </a:r>
          </a:p>
          <a:p>
            <a:pPr lvl="1">
              <a:defRPr sz="1400"/>
            </a:pPr>
            <a:r>
              <a:t>Upload PNG/JPG/DICOM → modality router; DenseNet121 (CheXNet) predicts 18 chest X-ray findings</a:t>
            </a:r>
          </a:p>
          <a:p>
            <a:pPr lvl="1">
              <a:defRPr sz="1400"/>
            </a:pPr>
            <a:r>
              <a:t>CT nodules, MRI tumor volume, US BI-RADS as live pipelines (nnU-Net / MONAI / MedSAM next)</a:t>
            </a:r>
          </a:p>
          <a:p>
            <a:pPr lvl="1">
              <a:defRPr sz="1400"/>
            </a:pPr>
            <a:r>
              <a:t>Grad-CAM heatmaps + confidence + severity + ranked differential diagnosis (explainable AI)</a:t>
            </a:r>
          </a:p>
          <a:p>
            <a:pPr lvl="1">
              <a:defRPr sz="1400"/>
            </a:pPr>
            <a:r>
              <a:t>Auto radiology report + PDF; FHIR ImagingStudy &amp; DiagnosticReport; Orthanc PACS / DICOMweb</a:t>
            </a:r>
          </a:p>
          <a:p>
            <a:pPr lvl="1">
              <a:defRPr sz="1400"/>
            </a:pPr>
            <a:r>
              <a:t>Low-confidence cases flagged ‘Needs Human Review’ — final interpretation by radiologist</a:t>
            </a:r>
          </a:p>
          <a:p>
            <a:pPr lvl="1">
              <a:defRPr sz="1400"/>
            </a:pPr>
            <a:r>
              <a:t>Addresses India’s radiologist shortage (~1 per 100,000 vs WHO norm 1:10,000)</a:t>
            </a:r>
          </a:p>
          <a:p>
            <a:pPr lvl="1">
              <a:defRPr sz="1400"/>
            </a:pPr>
            <a:r>
              <a:t>Cuts rural reporting delays from 3–7 days to seconds for preliminary triage</a:t>
            </a:r>
          </a:p>
          <a:p>
            <a:pPr lvl="1">
              <a:defRPr sz="1400"/>
            </a:pPr>
            <a:r>
              <a:t>Unique: prediction + evidence + report + PACS/FHIR/async worker — full hospital workflow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121426" y="6488777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pic>
        <p:nvPicPr>
          <p:cNvPr id="2" name="Picture 1" descr="A logo with a person in a blue yellow and red circle&#10;&#10;Description automatically generated">
            <a:extLst>
              <a:ext uri="{FF2B5EF4-FFF2-40B4-BE49-F238E27FC236}">
                <a16:creationId xmlns:a16="http://schemas.microsoft.com/office/drawing/2014/main" id="{EA64F85A-4812-BFE5-1A0F-B9D56B80D0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0451" y="191545"/>
            <a:ext cx="1391552" cy="7406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728C7FB-C129-34A7-CD8E-51B30CEC7F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651" y="171182"/>
            <a:ext cx="1391552" cy="76752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9D8CEE5-DB81-2FED-E18C-93C5EB08748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0443" y="205614"/>
            <a:ext cx="1476130" cy="7416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7B63282-0927-87F1-14CA-1FD03536B99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048" y="205614"/>
            <a:ext cx="1903303" cy="72959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763800" y="919193"/>
            <a:ext cx="10972800" cy="1143000"/>
          </a:xfrm>
        </p:spPr>
        <p:txBody>
          <a:bodyPr/>
          <a:lstStyle/>
          <a:p>
            <a:pPr eaLnBrk="1" hangingPunct="1">
              <a:defRPr sz="1500">
                <a:latin typeface="Arial"/>
              </a:defRPr>
            </a:pPr>
            <a:r>
              <a:t>AI/ML: PyTorch, DenseNet121 (TorchXRayVision), Grad-CAM (Captum), OpenCV, CLAHE</a:t>
            </a:r>
          </a:p>
          <a:p>
            <a:pPr>
              <a:defRPr sz="1500">
                <a:latin typeface="Arial"/>
              </a:defRPr>
            </a:pPr>
            <a:r>
              <a:t>Backend: FastAPI, SQLAlchemy, SQLite, JWT + RBAC, Celery/Redis async DICOM worker</a:t>
            </a:r>
          </a:p>
          <a:p>
            <a:pPr>
              <a:defRPr sz="1500">
                <a:latin typeface="Arial"/>
              </a:defRPr>
            </a:pPr>
            <a:r>
              <a:t>Frontend: React, Tailwind CSS, Chart.js dashboard, Cornerstone.js DICOM viewer</a:t>
            </a:r>
          </a:p>
          <a:p>
            <a:pPr>
              <a:defRPr sz="1500">
                <a:latin typeface="Arial"/>
              </a:defRPr>
            </a:pPr>
            <a:r>
              <a:t>Imaging: pydicom, Orthanc PACS, DICOMweb QIDO-RS/WADO-RS, HL7 FHIR</a:t>
            </a:r>
          </a:p>
          <a:p>
            <a:pPr>
              <a:defRPr sz="1500">
                <a:latin typeface="Arial"/>
              </a:defRPr>
            </a:pPr>
            <a:r>
              <a:t>Deploy: Docker Compose (API + Nginx + Redis + worker); optional Orthanc --profile pacs</a:t>
            </a:r>
          </a:p>
          <a:p>
            <a:pPr>
              <a:defRPr sz="1500">
                <a:latin typeface="Arial"/>
              </a:defRPr>
            </a:pPr>
            <a:r>
              <a:t>Pipeline: Upload → encrypt → preprocess → modality AI → Grad-CAM → report → dashboard</a:t>
            </a:r>
          </a:p>
          <a:p>
            <a:pPr>
              <a:defRPr sz="1500">
                <a:latin typeface="Arial"/>
              </a:defRPr>
            </a:pPr>
            <a:r>
              <a:t>Working prototype: XR CheXNet + CT/MRI/US demos, audit logs, encrypted images at rest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599" y="2533653"/>
            <a:ext cx="109728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 / Images / working prototype)</a:t>
            </a:r>
          </a:p>
        </p:txBody>
      </p:sp>
      <p:pic>
        <p:nvPicPr>
          <p:cNvPr id="2" name="Picture 1" descr="A logo with a person in a blue yellow and red circle&#10;&#10;Description automatically generated">
            <a:extLst>
              <a:ext uri="{FF2B5EF4-FFF2-40B4-BE49-F238E27FC236}">
                <a16:creationId xmlns:a16="http://schemas.microsoft.com/office/drawing/2014/main" id="{290C3FE7-BCAA-CE0E-1D86-8851C30CF5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0451" y="191545"/>
            <a:ext cx="1391552" cy="7406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6A6042D-8042-92BF-FB24-295E833DA9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651" y="171182"/>
            <a:ext cx="1391552" cy="7675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51FBA56-21D2-F6A5-238D-E71D2C5198C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0443" y="205614"/>
            <a:ext cx="1476130" cy="74166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D98971F-A754-C98B-3472-49C7BEE2DB2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048" y="205614"/>
            <a:ext cx="1903303" cy="7295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6C9F656-3B5F-89C1-DEB3-9EA3B601AE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3F7E0056-77E4-AEF9-9B10-BFD8B63DB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1426" y="6488777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576988" y="911847"/>
            <a:ext cx="10972800" cy="1143000"/>
          </a:xfrm>
        </p:spPr>
        <p:txBody>
          <a:bodyPr/>
          <a:lstStyle/>
          <a:p>
            <a:pPr eaLnBrk="1" hangingPunct="1">
              <a:defRPr sz="1500">
                <a:latin typeface="Arial"/>
              </a:defRPr>
            </a:pPr>
            <a:r>
              <a:t>Feasible: open-source stack, pretrained DenseNet121, Docker on modest hardware</a:t>
            </a:r>
          </a:p>
          <a:p>
            <a:pPr>
              <a:defRPr sz="1500">
                <a:latin typeface="Arial"/>
              </a:defRPr>
            </a:pPr>
            <a:r>
              <a:t>MVP: full-stack XR CDS + live CT/MRI/US routes, PDF reports, PACS/FHIR hooks</a:t>
            </a:r>
          </a:p>
          <a:p>
            <a:pPr>
              <a:defRPr sz="1500">
                <a:latin typeface="Arial"/>
              </a:defRPr>
            </a:pPr>
            <a:r>
              <a:t>Challenges: clinical validation, dataset bias, 3D CT/MRI weights, regulatory path</a:t>
            </a:r>
          </a:p>
          <a:p>
            <a:pPr>
              <a:defRPr sz="1500">
                <a:latin typeface="Arial"/>
              </a:defRPr>
            </a:pPr>
            <a:r>
              <a:t>Risk: false negatives — confidence thresholds, Grad-CAM, radiologist-in-the-loop</a:t>
            </a:r>
          </a:p>
          <a:p>
            <a:pPr>
              <a:defRPr sz="1500">
                <a:latin typeface="Arial"/>
              </a:defRPr>
            </a:pPr>
            <a:r>
              <a:t>Risk: modality mismatch / machine drift — DICOM tags + declared modality + CLAHE</a:t>
            </a:r>
          </a:p>
          <a:p>
            <a:pPr>
              <a:defRPr sz="1500">
                <a:latin typeface="Arial"/>
              </a:defRPr>
            </a:pPr>
            <a:r>
              <a:t>Strategy: hospital pilot on X-ray first; attach nnU-Net / MONAI / MedSAM next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pic>
        <p:nvPicPr>
          <p:cNvPr id="2" name="Picture 1" descr="A logo with a person in a blue yellow and red circle&#10;&#10;Description automatically generated">
            <a:extLst>
              <a:ext uri="{FF2B5EF4-FFF2-40B4-BE49-F238E27FC236}">
                <a16:creationId xmlns:a16="http://schemas.microsoft.com/office/drawing/2014/main" id="{27787CA2-DF1E-E17A-8FF9-2EB55331DF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0451" y="191545"/>
            <a:ext cx="1391552" cy="7406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18E6512-5D92-8D5C-6853-DB07DD0E1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651" y="171182"/>
            <a:ext cx="1391552" cy="7675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3EA0E46-96BA-CC87-BB26-9D0EAFC63C3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0443" y="205614"/>
            <a:ext cx="1476130" cy="7416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3C8F8DF-8F86-5D8E-957B-D5CDC93369D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048" y="205614"/>
            <a:ext cx="1903303" cy="7295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5B38342-6BFC-CC80-ACAA-BA3FCB20E6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4DEE5B70-B055-41F6-B17F-03162C64FB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1426" y="6488777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4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609599" y="1118774"/>
            <a:ext cx="10972800" cy="1143000"/>
          </a:xfrm>
        </p:spPr>
        <p:txBody>
          <a:bodyPr/>
          <a:lstStyle/>
          <a:p>
            <a:pPr eaLnBrk="1" hangingPunct="1">
              <a:defRPr sz="1500">
                <a:latin typeface="Arial"/>
              </a:defRPr>
            </a:pPr>
            <a:r>
              <a:t>Rural doctors: instant AI-assisted findings for X-ray/CT/MRI/US without waiting days</a:t>
            </a:r>
          </a:p>
          <a:p>
            <a:pPr>
              <a:defRPr sz="1500">
                <a:latin typeface="Arial"/>
              </a:defRPr>
            </a:pPr>
            <a:r>
              <a:t>Radiologists: draft report ~30 min → ~30 sec; heatmap to verify AI reasoning</a:t>
            </a:r>
          </a:p>
          <a:p>
            <a:pPr>
              <a:defRPr sz="1500">
                <a:latin typeface="Arial"/>
              </a:defRPr>
            </a:pPr>
            <a:r>
              <a:t>Patients: faster pneumonia/TB/nodule triage — 2,500 children die daily from pneumonia</a:t>
            </a:r>
          </a:p>
          <a:p>
            <a:pPr>
              <a:defRPr sz="1500">
                <a:latin typeface="Arial"/>
              </a:defRPr>
            </a:pPr>
            <a:r>
              <a:t>Hospitals: less imaging backlog, PACS/FHIR-ready, lower tele-radiology cost</a:t>
            </a:r>
          </a:p>
          <a:p>
            <a:pPr>
              <a:defRPr sz="1500">
                <a:latin typeface="Arial"/>
              </a:defRPr>
            </a:pPr>
            <a:r>
              <a:t>Social: equitable CDS in underserved areas; RBAC, audit logs, PHI encryption</a:t>
            </a:r>
          </a:p>
          <a:p>
            <a:pPr>
              <a:defRPr sz="1500">
                <a:latin typeface="Arial"/>
              </a:defRPr>
            </a:pPr>
            <a:r>
              <a:t>Economic: India medical imaging ~$2.1B by 2028; tele-radiology growing ~23%/year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599" y="2601387"/>
            <a:ext cx="10656711" cy="9541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pic>
        <p:nvPicPr>
          <p:cNvPr id="2" name="Picture 1" descr="A logo with a person in a blue yellow and red circle&#10;&#10;Description automatically generated">
            <a:extLst>
              <a:ext uri="{FF2B5EF4-FFF2-40B4-BE49-F238E27FC236}">
                <a16:creationId xmlns:a16="http://schemas.microsoft.com/office/drawing/2014/main" id="{E87A1332-F984-FE94-C653-14B8C3AB7D1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0451" y="191545"/>
            <a:ext cx="1391552" cy="7406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07F48F0-EC57-48BB-A916-0645086821D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651" y="171182"/>
            <a:ext cx="1391552" cy="7675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22CD695-5E6A-2CDC-FEA6-1BD219A74E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0443" y="205614"/>
            <a:ext cx="1476130" cy="7416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2DD03E15-2AA0-F111-AA50-1B96453F483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048" y="205614"/>
            <a:ext cx="1903303" cy="7295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CD279345-B127-20A0-F960-6BFA951A7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FAB6CE9-9EAF-37AD-9295-3624C0DB0D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1426" y="6488777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5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6AFC37-8A86-D45F-BD8E-E5F82FE687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>
            <a:extLst>
              <a:ext uri="{FF2B5EF4-FFF2-40B4-BE49-F238E27FC236}">
                <a16:creationId xmlns:a16="http://schemas.microsoft.com/office/drawing/2014/main" id="{3802B630-148B-DEB7-9E9F-671395E5F9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118774"/>
            <a:ext cx="10972800" cy="1143000"/>
          </a:xfrm>
        </p:spPr>
        <p:txBody>
          <a:bodyPr/>
          <a:lstStyle/>
          <a:p>
            <a:pPr eaLnBrk="1" hangingPunct="1">
              <a:defRPr sz="1500">
                <a:latin typeface="Arial"/>
              </a:defRPr>
            </a:pPr>
            <a:r>
              <a:t>Team built full-stack radiology AI (XR DenseNet + CT/MRI/US + PACS) in hackathon sprint</a:t>
            </a:r>
          </a:p>
          <a:p>
            <a:pPr>
              <a:defRPr sz="1500">
                <a:latin typeface="Arial"/>
              </a:defRPr>
            </a:pPr>
            <a:r>
              <a:t>Domain: healthcare AI, multi-modality imaging, hospital interoperability (PACS/FHIR)</a:t>
            </a:r>
          </a:p>
          <a:p>
            <a:pPr>
              <a:defRPr sz="1500">
                <a:latin typeface="Arial"/>
              </a:defRPr>
            </a:pPr>
            <a:r>
              <a:t>Deliverables: web app, Celery worker, Grad-CAM, PDF reports, FHIR APIs, Docker</a:t>
            </a:r>
          </a:p>
          <a:p>
            <a:pPr>
              <a:defRPr sz="1500">
                <a:latin typeface="Arial"/>
              </a:defRPr>
            </a:pPr>
            <a:r>
              <a:t>Skills: Python/ML, React, FastAPI, DICOM/PACS/FHIR, Docker Compose</a:t>
            </a:r>
          </a:p>
          <a:p>
            <a:pPr>
              <a:defRPr sz="1500">
                <a:latin typeface="Arial"/>
              </a:defRPr>
            </a:pPr>
            <a:r>
              <a:t>Proof: running prototype (docker compose up) — demo doctor@radiology.ai / demo1234</a:t>
            </a:r>
          </a:p>
        </p:txBody>
      </p:sp>
      <p:sp>
        <p:nvSpPr>
          <p:cNvPr id="17410" name="TextBox 8">
            <a:extLst>
              <a:ext uri="{FF2B5EF4-FFF2-40B4-BE49-F238E27FC236}">
                <a16:creationId xmlns:a16="http://schemas.microsoft.com/office/drawing/2014/main" id="{556E84CA-676B-C596-ACFE-094333B818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599" y="2601387"/>
            <a:ext cx="10656711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Team’s experience in the domain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Why choosing the domain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Proof of past work in the domain</a:t>
            </a:r>
          </a:p>
        </p:txBody>
      </p:sp>
      <p:pic>
        <p:nvPicPr>
          <p:cNvPr id="2" name="Picture 1" descr="A logo with a person in a blue yellow and red circle&#10;&#10;Description automatically generated">
            <a:extLst>
              <a:ext uri="{FF2B5EF4-FFF2-40B4-BE49-F238E27FC236}">
                <a16:creationId xmlns:a16="http://schemas.microsoft.com/office/drawing/2014/main" id="{1FB34FF6-83BB-C775-F565-5CBCA3CD49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0451" y="191545"/>
            <a:ext cx="1391552" cy="7406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EC0FE33-8D5D-9B10-0FB3-95A80EA8CB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651" y="171182"/>
            <a:ext cx="1391552" cy="7675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87B7946-FCBE-A7F3-E327-5216D916AE4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0443" y="205614"/>
            <a:ext cx="1476130" cy="7416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86146F2-80E9-1DE1-D7F6-FF7DD9BDB93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048" y="205614"/>
            <a:ext cx="1903303" cy="7295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7E1DECC4-CC72-DA18-EB14-894AF3241E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AA7F0034-8858-A538-51CA-4ED3AA26F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1426" y="6488777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6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811038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Title 1"/>
          <p:cNvSpPr>
            <a:spLocks noGrp="1"/>
          </p:cNvSpPr>
          <p:nvPr>
            <p:ph type="title"/>
          </p:nvPr>
        </p:nvSpPr>
        <p:spPr>
          <a:xfrm>
            <a:off x="763800" y="1230451"/>
            <a:ext cx="10972800" cy="1143000"/>
          </a:xfrm>
        </p:spPr>
        <p:txBody>
          <a:bodyPr/>
          <a:lstStyle/>
          <a:p>
            <a:pPr eaLnBrk="1" hangingPunct="1">
              <a:defRPr sz="1500">
                <a:latin typeface="Arial"/>
              </a:defRPr>
            </a:pPr>
            <a:r>
              <a:t>TorchXRayVision DenseNet121: https://github.com/mlmed/torchxrayvision</a:t>
            </a:r>
          </a:p>
          <a:p>
            <a:pPr>
              <a:defRPr sz="1500">
                <a:latin typeface="Arial"/>
              </a:defRPr>
            </a:pPr>
            <a:r>
              <a:t>Grad-CAM — Selvaraju et al.: https://arxiv.org/abs/1610.02391 | Captum: https://captum.ai/</a:t>
            </a:r>
          </a:p>
          <a:p>
            <a:pPr>
              <a:defRPr sz="1500">
                <a:latin typeface="Arial"/>
              </a:defRPr>
            </a:pPr>
            <a:r>
              <a:t>NIH ChestX-ray14: https://nihcc.app.box.com/v/ChestXray-NIHCC | WHO workforce: https://www.who.int/</a:t>
            </a:r>
          </a:p>
          <a:p>
            <a:pPr>
              <a:defRPr sz="1500">
                <a:latin typeface="Arial"/>
              </a:defRPr>
            </a:pPr>
            <a:r>
              <a:t>CT LIDC-IDRI + nnU-Net; MRI BraTS + MONAI; US BUSI + MedSAM (planned 3D models)</a:t>
            </a:r>
          </a:p>
          <a:p>
            <a:pPr>
              <a:defRPr sz="1500">
                <a:latin typeface="Arial"/>
              </a:defRPr>
            </a:pPr>
            <a:r>
              <a:t>Orthanc PACS / DICOMweb: https://www.orthanc-server.com/</a:t>
            </a:r>
          </a:p>
          <a:p>
            <a:pPr>
              <a:defRPr sz="1500">
                <a:latin typeface="Arial"/>
              </a:defRPr>
            </a:pPr>
            <a:r>
              <a:t>HL7 FHIR ImagingStudy + DiagnosticReport: https://www.hl7.org/fhir/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pic>
        <p:nvPicPr>
          <p:cNvPr id="2" name="Picture 1" descr="A logo with a person in a blue yellow and red circle&#10;&#10;Description automatically generated">
            <a:extLst>
              <a:ext uri="{FF2B5EF4-FFF2-40B4-BE49-F238E27FC236}">
                <a16:creationId xmlns:a16="http://schemas.microsoft.com/office/drawing/2014/main" id="{39602C8D-F678-8672-953A-88CE55D987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0451" y="191545"/>
            <a:ext cx="1391552" cy="740612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99E762C-AA9A-10A1-0D85-AC9D80A0947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651" y="171182"/>
            <a:ext cx="1391552" cy="76752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926A876-B01B-AA7E-5BF2-DF647B1A3E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0443" y="205614"/>
            <a:ext cx="1476130" cy="74166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CD3AC524-74AE-3C50-DF1C-D3BEE327D1A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048" y="205614"/>
            <a:ext cx="1903303" cy="729599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8860FBF-1FF5-C80B-31B5-555105DE59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72120A20-A57F-4A0C-672E-DA7B58B659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1426" y="6488777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7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 Diagonal Corner Rectangle 2"/>
          <p:cNvSpPr/>
          <p:nvPr/>
        </p:nvSpPr>
        <p:spPr>
          <a:xfrm>
            <a:off x="0" y="2330975"/>
            <a:ext cx="12191999" cy="3779256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2408902"/>
            <a:ext cx="11764736" cy="35769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(7).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  <a:sym typeface="Calibri"/>
            </a:endParaRPr>
          </a:p>
          <a:p>
            <a:pPr marR="0" lvl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89784" y="1130803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9995" y="1867078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2" name="Picture 1" descr="A logo with a person in a blue yellow and red circle&#10;&#10;Description automatically generated">
            <a:extLst>
              <a:ext uri="{FF2B5EF4-FFF2-40B4-BE49-F238E27FC236}">
                <a16:creationId xmlns:a16="http://schemas.microsoft.com/office/drawing/2014/main" id="{61E32504-DF15-1B70-0568-A13D01705A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0451" y="191545"/>
            <a:ext cx="1391552" cy="74061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1B8A648-8FC4-C7A3-3EB9-D79D9AC932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9651" y="171182"/>
            <a:ext cx="1391552" cy="767528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CCDECBBB-FDF8-6090-61BA-953CBF7E1AF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00443" y="205614"/>
            <a:ext cx="1476130" cy="74166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221FBECD-A25B-0F9E-4BA8-E3B5EF43FB2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4048" y="205614"/>
            <a:ext cx="1903303" cy="729599"/>
          </a:xfrm>
          <a:prstGeom prst="rect">
            <a:avLst/>
          </a:prstGeom>
        </p:spPr>
      </p:pic>
      <p:sp>
        <p:nvSpPr>
          <p:cNvPr id="17" name="Rectangle 16">
            <a:extLst>
              <a:ext uri="{FF2B5EF4-FFF2-40B4-BE49-F238E27FC236}">
                <a16:creationId xmlns:a16="http://schemas.microsoft.com/office/drawing/2014/main" id="{C8D20459-FC96-4C3C-E9D8-A1DD3ECD8B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492874"/>
            <a:ext cx="12191999" cy="365126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8" name="Slide Number Placeholder 5">
            <a:extLst>
              <a:ext uri="{FF2B5EF4-FFF2-40B4-BE49-F238E27FC236}">
                <a16:creationId xmlns:a16="http://schemas.microsoft.com/office/drawing/2014/main" id="{ACE97393-6089-BB30-0FCC-557663774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121426" y="6488777"/>
            <a:ext cx="2844800" cy="365125"/>
          </a:xfrm>
        </p:spPr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8</a:t>
            </a:fld>
            <a:endParaRPr lang="en-US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7604</TotalTime>
  <Words>302</Words>
  <Application>Microsoft Office PowerPoint</Application>
  <PresentationFormat>Widescreen</PresentationFormat>
  <Paragraphs>58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6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VITISH 2026 (SIH Internal Hackathon)</vt:lpstr>
      <vt:lpstr> IDEA TITLE</vt:lpstr>
      <vt:lpstr>TECHNICAL APPROACH</vt:lpstr>
      <vt:lpstr>SOLUTION FEASIBILITY &amp; VIABILITY</vt:lpstr>
      <vt:lpstr>REAL WORLD IMPACTS, BENEFITS &amp; RELEVANCE</vt:lpstr>
      <vt:lpstr>TEAM CAPABILITY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Admin</cp:lastModifiedBy>
  <cp:revision>153</cp:revision>
  <dcterms:created xsi:type="dcterms:W3CDTF">2013-12-12T18:46:50Z</dcterms:created>
  <dcterms:modified xsi:type="dcterms:W3CDTF">2026-08-17T11:27:26Z</dcterms:modified>
  <cp:category/>
</cp:coreProperties>
</file>